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0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21DEF-3D19-477E-B808-9DA09DB0DB9D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16B33-08BB-4D0D-AAF0-5A579FAC9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82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58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475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37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91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64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175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22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86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25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2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2262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63A5F-0DCE-4727-80A9-5E0B0999807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297FB-C32A-4ECE-84B3-CBF5428AF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62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"/>
          <p:cNvSpPr txBox="1">
            <a:spLocks/>
          </p:cNvSpPr>
          <p:nvPr/>
        </p:nvSpPr>
        <p:spPr>
          <a:xfrm>
            <a:off x="1645920" y="1325880"/>
            <a:ext cx="89611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82065" marR="5080" indent="-1270000" algn="ctr">
              <a:lnSpc>
                <a:spcPct val="113000"/>
              </a:lnSpc>
              <a:spcBef>
                <a:spcPts val="95"/>
              </a:spcBef>
              <a:spcAft>
                <a:spcPts val="400"/>
              </a:spcAft>
            </a:pPr>
            <a:r>
              <a:rPr sz="2800" b="1">
                <a:solidFill>
                  <a:srgbClr val="BF0000"/>
                </a:solidFill>
                <a:latin typeface="Times New Roman"/>
              </a:rPr>
              <a:t>HONEYCHAIN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600" b="1">
                <a:solidFill>
                  <a:srgbClr val="183A7A"/>
                </a:solidFill>
                <a:latin typeface="Times New Roman"/>
              </a:rPr>
              <a:t>Blockchain-Based Honey Traceability &amp; Smart Beekeeping System</a:t>
            </a:r>
          </a:p>
        </p:txBody>
      </p:sp>
      <p:sp>
        <p:nvSpPr>
          <p:cNvPr id="5" name="Google Shape;87;p1"/>
          <p:cNvSpPr txBox="1">
            <a:spLocks/>
          </p:cNvSpPr>
          <p:nvPr/>
        </p:nvSpPr>
        <p:spPr>
          <a:xfrm>
            <a:off x="1627634" y="2122912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45700" tIns="0" rIns="4570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6" name="Google Shape;88;p1" descr="klogo copy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44160" y="5524203"/>
            <a:ext cx="13747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0;p1"/>
          <p:cNvSpPr/>
          <p:nvPr/>
        </p:nvSpPr>
        <p:spPr>
          <a:xfrm>
            <a:off x="3052814" y="4046539"/>
            <a:ext cx="6399546" cy="230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700"/>
            </a:pPr>
            <a:endParaRPr lang="en-IN"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13860" y="170380"/>
            <a:ext cx="3865880" cy="13754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256032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B45309"/>
                </a:solidFill>
                <a:latin typeface="Times New Roman"/>
              </a:rPr>
              <a:t>Blockchain Traceability   •   IoT Hive Monitoring   •   AI Hive Analysis
QR Consumer Verification   •   Digital Marketplace for Beekeepers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657600"/>
            <a:ext cx="1645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Project ID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Team Members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Project Guide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274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65760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E1E1E"/>
                </a:solidFill>
                <a:latin typeface="Times New Roman"/>
              </a:rPr>
              <a:t>Batch 09 (25IT-MP-09)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1E1E"/>
                </a:solidFill>
                <a:latin typeface="Times New Roman"/>
              </a:rPr>
              <a:t>1. Sakeena Nivas S   (25ITR122)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1E1E"/>
                </a:solidFill>
                <a:latin typeface="Times New Roman"/>
              </a:rPr>
              <a:t>2. Srinivasan S   (25ITR141)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1E1E"/>
                </a:solidFill>
                <a:latin typeface="Times New Roman"/>
              </a:rPr>
              <a:t>3. Swetha S   (25ITR152)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E1E1E"/>
                </a:solidFill>
                <a:latin typeface="Times New Roman"/>
              </a:rPr>
              <a:t>4. Udishkrishna V   (25ITR165)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1E1E"/>
                </a:solidFill>
                <a:latin typeface="Times New Roman"/>
              </a:rPr>
              <a:t>Dr. / Prof. [Faculty Guide Name]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E1E1E"/>
                </a:solidFill>
                <a:latin typeface="Times New Roman"/>
              </a:rPr>
              <a:t>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747414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371600" y="1234440"/>
            <a:ext cx="9326880" cy="46634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Reduce counterfeit / adulterated honey through better traceability</a:t>
            </a:r>
            <a:endParaRPr lang="en-IN" dirty="0"/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Track honey from hive ➔ beekeeper ➔ processing ➔ customer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Improve market access for rural beekeepers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Monitor hive conditions using IoT sensors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Use AI for hive-health analysis and productivity prediction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Enable customers to access batch and testing information through QR codes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DB962A20-3D42-40B9-8432-375F6EEB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15" y="177800"/>
            <a:ext cx="10205085" cy="702310"/>
          </a:xfrm>
        </p:spPr>
        <p:txBody>
          <a:bodyPr/>
          <a:lstStyle/>
          <a:p>
            <a:pPr algn="ctr"/>
            <a:r>
              <a:rPr lang="en-IN" sz="2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97947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4B17B-9BC1-4C6F-AF39-01A0B03DC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34440"/>
            <a:ext cx="9326880" cy="46634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Counterfeit / adulterated honey affects consumer trust</a:t>
            </a:r>
            <a:endParaRPr lang="en-IN" dirty="0"/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Customers have limited information about honey origin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Traditional records can be difficult to verify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Rural beekeepers have limited direct market access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Manual hive monitoring provides limited real-time information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1E1E1E"/>
                </a:solidFill>
                <a:latin typeface="Times New Roman"/>
              </a:rPr>
              <a:t>Early identification of abnormal hive conditions can be difficult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3CE76655-2340-41FC-A616-4F9BD79E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15" y="108488"/>
            <a:ext cx="10199919" cy="771622"/>
          </a:xfrm>
        </p:spPr>
        <p:txBody>
          <a:bodyPr/>
          <a:lstStyle/>
          <a:p>
            <a:pPr algn="ctr"/>
            <a:r>
              <a:rPr lang="en-US" altLang="en-IN" sz="2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19113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BFC34-2C27-4BCA-8B8E-93D9F62AC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34440"/>
            <a:ext cx="9326880" cy="46634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50" b="1">
                <a:solidFill>
                  <a:srgbClr val="1E1E1E"/>
                </a:solidFill>
                <a:latin typeface="Times New Roman"/>
              </a:rPr>
              <a:t>1. Hive Monitoring: </a:t>
            </a:r>
            <a:r>
              <a:rPr sz="1550" b="0">
                <a:solidFill>
                  <a:srgbClr val="1E1E1E"/>
                </a:solidFill>
                <a:latin typeface="Times New Roman"/>
              </a:rPr>
              <a:t>IoT sensors collect temperature, humidity and weight data.</a:t>
            </a:r>
            <a:endParaRPr lang="en-IN" dirty="0"/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50" b="1">
                <a:solidFill>
                  <a:srgbClr val="1E1E1E"/>
                </a:solidFill>
                <a:latin typeface="Times New Roman"/>
              </a:rPr>
              <a:t>2. AI Analysis: </a:t>
            </a:r>
            <a:r>
              <a:rPr sz="1550" b="0">
                <a:solidFill>
                  <a:srgbClr val="1E1E1E"/>
                </a:solidFill>
                <a:latin typeface="Times New Roman"/>
              </a:rPr>
              <a:t>AI analyzes suitable hive data / images for abnormal conditions.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50" b="1">
                <a:solidFill>
                  <a:srgbClr val="1E1E1E"/>
                </a:solidFill>
                <a:latin typeface="Times New Roman"/>
              </a:rPr>
              <a:t>3. Honey Harvesting: </a:t>
            </a:r>
            <a:r>
              <a:rPr sz="1550" b="0">
                <a:solidFill>
                  <a:srgbClr val="1E1E1E"/>
                </a:solidFill>
                <a:latin typeface="Times New Roman"/>
              </a:rPr>
              <a:t>Beekeeper records date, quantity, hive and location.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50" b="1">
                <a:solidFill>
                  <a:srgbClr val="1E1E1E"/>
                </a:solidFill>
                <a:latin typeface="Times New Roman"/>
              </a:rPr>
              <a:t>4. Quality Testing: </a:t>
            </a:r>
            <a:r>
              <a:rPr sz="1550" b="0">
                <a:solidFill>
                  <a:srgbClr val="1E1E1E"/>
                </a:solidFill>
                <a:latin typeface="Times New Roman"/>
              </a:rPr>
              <a:t>Authorized testing personnel record laboratory test results.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50" b="1">
                <a:solidFill>
                  <a:srgbClr val="1E1E1E"/>
                </a:solidFill>
                <a:latin typeface="Times New Roman"/>
              </a:rPr>
              <a:t>5. Blockchain Recording: </a:t>
            </a:r>
            <a:r>
              <a:rPr sz="1550" b="0">
                <a:solidFill>
                  <a:srgbClr val="1E1E1E"/>
                </a:solidFill>
                <a:latin typeface="Times New Roman"/>
              </a:rPr>
              <a:t>Important batch and verification records are stored securely.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50" b="1">
                <a:solidFill>
                  <a:srgbClr val="1E1E1E"/>
                </a:solidFill>
                <a:latin typeface="Times New Roman"/>
              </a:rPr>
              <a:t>6. QR Verification: </a:t>
            </a:r>
            <a:r>
              <a:rPr sz="1550" b="0">
                <a:solidFill>
                  <a:srgbClr val="1E1E1E"/>
                </a:solidFill>
                <a:latin typeface="Times New Roman"/>
              </a:rPr>
              <a:t>Customer scans the QR code to access batch information.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F25B1A54-0697-4D1A-A4D8-11B6360C4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15" y="177800"/>
            <a:ext cx="10205085" cy="702310"/>
          </a:xfrm>
        </p:spPr>
        <p:txBody>
          <a:bodyPr/>
          <a:lstStyle/>
          <a:p>
            <a:pPr algn="ctr"/>
            <a:r>
              <a:rPr lang="en-US" altLang="en-IN" sz="2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PROPOSED METHODOLOGY</a:t>
            </a:r>
          </a:p>
        </p:txBody>
      </p:sp>
    </p:spTree>
    <p:extLst>
      <p:ext uri="{BB962C8B-B14F-4D97-AF65-F5344CB8AC3E}">
        <p14:creationId xmlns:p14="http://schemas.microsoft.com/office/powerpoint/2010/main" val="531353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44D4D-956C-4EEA-A427-229980C29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378" y="1267326"/>
            <a:ext cx="9685421" cy="490963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D8BE2DD-8FC5-4C1A-8C91-DBD9CA54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15" y="185980"/>
            <a:ext cx="10184421" cy="694130"/>
          </a:xfrm>
        </p:spPr>
        <p:txBody>
          <a:bodyPr/>
          <a:lstStyle/>
          <a:p>
            <a:pPr algn="ctr"/>
            <a:r>
              <a:rPr lang="en-US" altLang="en-IN" sz="2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BLOCK DIAGRAM / FLOW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1280160"/>
            <a:ext cx="2057400" cy="3931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64592" bIns="12801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B45309"/>
                </a:solidFill>
                <a:latin typeface="Times New Roman"/>
              </a:rPr>
              <a:t>TIER 1</a:t>
            </a:r>
          </a:p>
          <a:p>
            <a:pPr algn="ctr">
              <a:spcAft>
                <a:spcPts val="1200"/>
              </a:spcAft>
            </a:pPr>
            <a:r>
              <a:rPr sz="1100" i="1">
                <a:solidFill>
                  <a:srgbClr val="B45309"/>
                </a:solidFill>
                <a:latin typeface="Times New Roman"/>
              </a:rPr>
              <a:t>Farm &amp; Sensors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D97706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ESP32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D97706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Temperature &amp; humidity sensor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D97706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Weight sensor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D97706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Beekeeper portal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38144" y="3108960"/>
            <a:ext cx="320040" cy="201168"/>
          </a:xfrm>
          <a:prstGeom prst="rightArrow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3048" y="1280160"/>
            <a:ext cx="2057400" cy="393192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64592" bIns="12801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6534"/>
                </a:solidFill>
                <a:latin typeface="Times New Roman"/>
              </a:rPr>
              <a:t>TIER 2</a:t>
            </a:r>
          </a:p>
          <a:p>
            <a:pPr algn="ctr">
              <a:spcAft>
                <a:spcPts val="1200"/>
              </a:spcAft>
            </a:pPr>
            <a:r>
              <a:rPr sz="1100" i="1">
                <a:solidFill>
                  <a:srgbClr val="166534"/>
                </a:solidFill>
                <a:latin typeface="Times New Roman"/>
              </a:rPr>
              <a:t>Quality Verification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6A34A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Officer portal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6A34A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Laboratory results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6A34A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Digital verification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3108960"/>
            <a:ext cx="320040" cy="201168"/>
          </a:xfrm>
          <a:prstGeom prst="rightArrow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216" y="1280160"/>
            <a:ext cx="2057400" cy="39319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64592" bIns="12801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369A1"/>
                </a:solidFill>
                <a:latin typeface="Times New Roman"/>
              </a:rPr>
              <a:t>TIER 3</a:t>
            </a:r>
          </a:p>
          <a:p>
            <a:pPr algn="ctr">
              <a:spcAft>
                <a:spcPts val="1200"/>
              </a:spcAft>
            </a:pPr>
            <a:r>
              <a:rPr sz="1100" i="1">
                <a:solidFill>
                  <a:srgbClr val="0369A1"/>
                </a:solidFill>
                <a:latin typeface="Times New Roman"/>
              </a:rPr>
              <a:t>Blockchain Core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Smart contracts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Blockchain records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Cryptographic hashing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12480" y="3108960"/>
            <a:ext cx="320040" cy="201168"/>
          </a:xfrm>
          <a:prstGeom prst="rightArrow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87384" y="1280160"/>
            <a:ext cx="2057400" cy="39319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64592" bIns="128016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6B21A8"/>
                </a:solidFill>
                <a:latin typeface="Times New Roman"/>
              </a:rPr>
              <a:t>TIER 4</a:t>
            </a:r>
          </a:p>
          <a:p>
            <a:pPr algn="ctr">
              <a:spcAft>
                <a:spcPts val="1200"/>
              </a:spcAft>
            </a:pPr>
            <a:r>
              <a:rPr sz="1100" i="1">
                <a:solidFill>
                  <a:srgbClr val="6B21A8"/>
                </a:solidFill>
                <a:latin typeface="Times New Roman"/>
              </a:rPr>
              <a:t>Customer Store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9333EA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Online honey shop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9333EA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Shopping cart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9333EA"/>
                </a:solidFill>
                <a:latin typeface="Times New Roman"/>
              </a:rPr>
              <a:t>• </a:t>
            </a:r>
            <a:r>
              <a:rPr sz="1250">
                <a:solidFill>
                  <a:srgbClr val="1E1E1E"/>
                </a:solidFill>
                <a:latin typeface="Times New Roman"/>
              </a:rPr>
              <a:t>QR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5394960"/>
            <a:ext cx="9372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200" b="1">
                <a:solidFill>
                  <a:srgbClr val="1E1E1E"/>
                </a:solidFill>
                <a:latin typeface="Times New Roman"/>
              </a:rPr>
              <a:t>System Flow: IoT Sensor Data ➔ Lab Quality Verification ➔ Blockchain Storage ➔ Customer QR Verification</a:t>
            </a:r>
          </a:p>
        </p:txBody>
      </p:sp>
    </p:spTree>
    <p:extLst>
      <p:ext uri="{BB962C8B-B14F-4D97-AF65-F5344CB8AC3E}">
        <p14:creationId xmlns:p14="http://schemas.microsoft.com/office/powerpoint/2010/main" val="145184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DC239-2BD6-46FD-A1AF-D1E900445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34440"/>
            <a:ext cx="9326880" cy="46634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  <a:latin typeface="Times New Roman"/>
              </a:rPr>
              <a:t>IoT Telemetry Module: </a:t>
            </a:r>
            <a:r>
              <a:rPr sz="1500" b="0">
                <a:solidFill>
                  <a:srgbClr val="1E1E1E"/>
                </a:solidFill>
                <a:latin typeface="Times New Roman"/>
              </a:rPr>
              <a:t>Temperature, humidity &amp; hive weight</a:t>
            </a:r>
            <a:endParaRPr lang="en-IN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  <a:latin typeface="Times New Roman"/>
              </a:rPr>
              <a:t>AI Analytics Module: </a:t>
            </a:r>
            <a:r>
              <a:rPr sz="1500" b="0">
                <a:solidFill>
                  <a:srgbClr val="1E1E1E"/>
                </a:solidFill>
                <a:latin typeface="Times New Roman"/>
              </a:rPr>
              <a:t>Hive health analysis &amp; productivity prediction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  <a:latin typeface="Times New Roman"/>
              </a:rPr>
              <a:t>Beekeeper Portal: </a:t>
            </a:r>
            <a:r>
              <a:rPr sz="1500" b="0">
                <a:solidFill>
                  <a:srgbClr val="1E1E1E"/>
                </a:solidFill>
                <a:latin typeface="Times New Roman"/>
              </a:rPr>
              <a:t>Hive and honey-batch management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  <a:latin typeface="Times New Roman"/>
              </a:rPr>
              <a:t>Quality Officer Portal: </a:t>
            </a:r>
            <a:r>
              <a:rPr sz="1500" b="0">
                <a:solidFill>
                  <a:srgbClr val="1E1E1E"/>
                </a:solidFill>
                <a:latin typeface="Times New Roman"/>
              </a:rPr>
              <a:t>Testing and verification records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  <a:latin typeface="Times New Roman"/>
              </a:rPr>
              <a:t>Blockchain Module: </a:t>
            </a:r>
            <a:r>
              <a:rPr sz="1500" b="0">
                <a:solidFill>
                  <a:srgbClr val="1E1E1E"/>
                </a:solidFill>
                <a:latin typeface="Times New Roman"/>
              </a:rPr>
              <a:t>Secure and traceable batch records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  <a:latin typeface="Times New Roman"/>
              </a:rPr>
              <a:t>QR Code Module: </a:t>
            </a:r>
            <a:r>
              <a:rPr sz="1500" b="0">
                <a:solidFill>
                  <a:srgbClr val="1E1E1E"/>
                </a:solidFill>
                <a:latin typeface="Times New Roman"/>
              </a:rPr>
              <a:t>QR generation and verification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  <a:latin typeface="Times New Roman"/>
              </a:rPr>
              <a:t>Customer Store &amp; Cart: </a:t>
            </a:r>
            <a:r>
              <a:rPr sz="1500" b="0">
                <a:solidFill>
                  <a:srgbClr val="1E1E1E"/>
                </a:solidFill>
                <a:latin typeface="Times New Roman"/>
              </a:rPr>
              <a:t>Product browsing, cart and purchasing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832DF470-21C9-4777-91EA-D0F6C25B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15" y="232474"/>
            <a:ext cx="10215417" cy="647635"/>
          </a:xfrm>
        </p:spPr>
        <p:txBody>
          <a:bodyPr/>
          <a:lstStyle/>
          <a:p>
            <a:pPr algn="ctr"/>
            <a:r>
              <a:rPr lang="en-US" altLang="en-IN" sz="2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LIST OF MODULES</a:t>
            </a:r>
          </a:p>
        </p:txBody>
      </p:sp>
    </p:spTree>
    <p:extLst>
      <p:ext uri="{BB962C8B-B14F-4D97-AF65-F5344CB8AC3E}">
        <p14:creationId xmlns:p14="http://schemas.microsoft.com/office/powerpoint/2010/main" val="4022120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4B63-5AC1-4FF9-AD0D-004275336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378" y="1379621"/>
            <a:ext cx="9685421" cy="479734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F6D234C-FCE8-49AC-90DB-F164EE723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16" y="108488"/>
            <a:ext cx="10153424" cy="771622"/>
          </a:xfrm>
        </p:spPr>
        <p:txBody>
          <a:bodyPr/>
          <a:lstStyle/>
          <a:p>
            <a:pPr algn="ctr"/>
            <a:r>
              <a:rPr lang="en-US" altLang="en-IN" sz="2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HARDWARE / SOFTWARE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34440"/>
            <a:ext cx="4572000" cy="46634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BF0000"/>
                </a:solidFill>
                <a:latin typeface="Times New Roman"/>
              </a:rPr>
              <a:t>HARDWARE REQUIREMENTS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Laptop / Computer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Smartphone with camera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ESP32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DHT22 Sensor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HX711 + Load Cell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34440"/>
            <a:ext cx="4572000" cy="46634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BF0000"/>
                </a:solidFill>
                <a:latin typeface="Times New Roman"/>
              </a:rPr>
              <a:t>SOFTWARE REQUIREMENTS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HTML5, CSS3, JavaScript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Node.js &amp; Express.js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Solidity &amp; Blockchain platform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SHA-256 Cryptographic Hashing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Python &amp; TensorFlow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500">
                <a:solidFill>
                  <a:srgbClr val="1E1E1E"/>
                </a:solidFill>
                <a:latin typeface="Times New Roman"/>
              </a:rPr>
              <a:t>VS Code, Git &amp; Google Chrome</a:t>
            </a:r>
          </a:p>
        </p:txBody>
      </p:sp>
    </p:spTree>
    <p:extLst>
      <p:ext uri="{BB962C8B-B14F-4D97-AF65-F5344CB8AC3E}">
        <p14:creationId xmlns:p14="http://schemas.microsoft.com/office/powerpoint/2010/main" val="1246441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B8422-CE2C-41B3-A230-856560938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316" y="1267326"/>
            <a:ext cx="9976484" cy="490963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0AE4914-5016-462F-9179-4E9D869B9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16" y="201478"/>
            <a:ext cx="10153423" cy="678632"/>
          </a:xfrm>
        </p:spPr>
        <p:txBody>
          <a:bodyPr/>
          <a:lstStyle/>
          <a:p>
            <a:pPr algn="ctr"/>
            <a:r>
              <a:rPr lang="en-US" altLang="en-IN" sz="2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MODULES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4480560" cy="2148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Times New Roman"/>
              </a:rPr>
              <a:t>👨🌾 Beekeeper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Register hives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Monitor IoT data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View AI alerts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Add honey batches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4480560" cy="21488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66534"/>
                </a:solidFill>
                <a:latin typeface="Times New Roman"/>
              </a:rPr>
              <a:t>🏛️ Quality Officer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66534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Inspect batches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66534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Enter laboratory results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66534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Verify batch information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66534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Approve/reject according to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611880"/>
            <a:ext cx="4480560" cy="21488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369A1"/>
                </a:solidFill>
                <a:latin typeface="Times New Roman"/>
              </a:rPr>
              <a:t>👤 Customer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369A1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Browse honey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369A1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Manage cart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369A1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Purchase products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369A1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Scan QR and view batch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11880"/>
            <a:ext cx="4480560" cy="214884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6B21A8"/>
                </a:solidFill>
                <a:latin typeface="Times New Roman"/>
              </a:rPr>
              <a:t>👨💻 Admin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6B21A8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Manage users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6B21A8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Manage system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6B21A8"/>
                </a:solidFill>
                <a:latin typeface="Times New Roman"/>
              </a:rPr>
              <a:t>• </a:t>
            </a:r>
            <a:r>
              <a:rPr sz="1200">
                <a:solidFill>
                  <a:srgbClr val="1E1E1E"/>
                </a:solidFill>
                <a:latin typeface="Times New Roman"/>
              </a:rPr>
              <a:t>Monitor blockchain integration</a:t>
            </a:r>
          </a:p>
        </p:txBody>
      </p:sp>
    </p:spTree>
    <p:extLst>
      <p:ext uri="{BB962C8B-B14F-4D97-AF65-F5344CB8AC3E}">
        <p14:creationId xmlns:p14="http://schemas.microsoft.com/office/powerpoint/2010/main" val="3901911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FC1BC-05AD-45EC-B8F9-CAF8F8D28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314" y="1363579"/>
            <a:ext cx="9976485" cy="481338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1760E370-BE31-4745-923B-E6BB7495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15" y="177800"/>
            <a:ext cx="10205085" cy="702310"/>
          </a:xfrm>
        </p:spPr>
        <p:txBody>
          <a:bodyPr/>
          <a:lstStyle/>
          <a:p>
            <a:pPr algn="ctr"/>
            <a:r>
              <a:rPr lang="en-US" altLang="en-IN" sz="2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EXPECTED OUTCOME &amp; 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34440"/>
            <a:ext cx="4572000" cy="46634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BF0000"/>
                </a:solidFill>
                <a:latin typeface="Times New Roman"/>
              </a:rPr>
              <a:t>EXPECTED OUTCOMES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Transparent honey traceability system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Digital connection between beekeepers, verification authorities and customers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Improved market access for rural beekeepers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Real-time hive monitoring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AI-based alerts and productivity insights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Quick QR-based batch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34440"/>
            <a:ext cx="4572000" cy="46634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BF0000"/>
                </a:solidFill>
                <a:latin typeface="Times New Roman"/>
              </a:rPr>
              <a:t>KEY ADVANTAGES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🔗 Tamper-resistant records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📱 Easy QR verification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🐝 Smart hive monitoring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🤖 AI-based analysis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🛒 Digital marketplace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83A7A"/>
                </a:solidFill>
                <a:latin typeface="Times New Roman"/>
              </a:rPr>
              <a:t>•  </a:t>
            </a:r>
            <a:r>
              <a:rPr sz="1350">
                <a:solidFill>
                  <a:srgbClr val="1E1E1E"/>
                </a:solidFill>
                <a:latin typeface="Times New Roman"/>
              </a:rPr>
              <a:t>🌾 Better traceability for rural honey production</a:t>
            </a:r>
          </a:p>
        </p:txBody>
      </p:sp>
    </p:spTree>
    <p:extLst>
      <p:ext uri="{BB962C8B-B14F-4D97-AF65-F5344CB8AC3E}">
        <p14:creationId xmlns:p14="http://schemas.microsoft.com/office/powerpoint/2010/main" val="889826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C9647B91-467E-4969-A38D-10D6FB29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16" y="185980"/>
            <a:ext cx="10153424" cy="694130"/>
          </a:xfrm>
        </p:spPr>
        <p:txBody>
          <a:bodyPr/>
          <a:lstStyle/>
          <a:p>
            <a:pPr algn="ctr"/>
            <a:r>
              <a:rPr lang="en-US" altLang="en-IN" sz="2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SDG GOALS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B578FFB-699A-4785-929F-8B13C6BADAEE}"/>
              </a:ext>
            </a:extLst>
          </p:cNvPr>
          <p:cNvSpPr txBox="1">
            <a:spLocks/>
          </p:cNvSpPr>
          <p:nvPr/>
        </p:nvSpPr>
        <p:spPr>
          <a:xfrm>
            <a:off x="1371600" y="1234440"/>
            <a:ext cx="9326880" cy="4663440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50" b="1">
                <a:solidFill>
                  <a:srgbClr val="1E1E1E"/>
                </a:solidFill>
                <a:latin typeface="Times New Roman"/>
              </a:rPr>
              <a:t>SDG 8 – Decent Work &amp; Economic Growth: </a:t>
            </a:r>
            <a:r>
              <a:rPr sz="1550" b="0">
                <a:solidFill>
                  <a:srgbClr val="1E1E1E"/>
                </a:solidFill>
                <a:latin typeface="Times New Roman"/>
              </a:rPr>
              <a:t>Supports rural beekeepers through digital market access and livelihood opportunities.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50" b="1">
                <a:solidFill>
                  <a:srgbClr val="1E1E1E"/>
                </a:solidFill>
                <a:latin typeface="Times New Roman"/>
              </a:rPr>
              <a:t>SDG 9 – Industry, Innovation &amp; Infrastructure: </a:t>
            </a:r>
            <a:r>
              <a:rPr sz="1550" b="0">
                <a:solidFill>
                  <a:srgbClr val="1E1E1E"/>
                </a:solidFill>
                <a:latin typeface="Times New Roman"/>
              </a:rPr>
              <a:t>Uses AI, IoT and blockchain for innovation in beekeeping.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50" b="1">
                <a:solidFill>
                  <a:srgbClr val="1E1E1E"/>
                </a:solidFill>
                <a:latin typeface="Times New Roman"/>
              </a:rPr>
              <a:t>SDG 12 – Responsible Consumption &amp; Production: </a:t>
            </a:r>
            <a:r>
              <a:rPr sz="1550" b="0">
                <a:solidFill>
                  <a:srgbClr val="1E1E1E"/>
                </a:solidFill>
                <a:latin typeface="Times New Roman"/>
              </a:rPr>
              <a:t>Improves transparency and traceability in honey production.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50" b="1">
                <a:solidFill>
                  <a:srgbClr val="1E1E1E"/>
                </a:solidFill>
                <a:latin typeface="Times New Roman"/>
              </a:rPr>
              <a:t>SDG 15 – Life on Land: </a:t>
            </a:r>
            <a:r>
              <a:rPr sz="1550" b="0">
                <a:solidFill>
                  <a:srgbClr val="1E1E1E"/>
                </a:solidFill>
                <a:latin typeface="Times New Roman"/>
              </a:rPr>
              <a:t>Supports better honeybee colony monitoring and sustainable ecosystem management.</a:t>
            </a:r>
          </a:p>
        </p:txBody>
      </p:sp>
    </p:spTree>
    <p:extLst>
      <p:ext uri="{BB962C8B-B14F-4D97-AF65-F5344CB8AC3E}">
        <p14:creationId xmlns:p14="http://schemas.microsoft.com/office/powerpoint/2010/main" val="3981815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50D44-DB73-45CD-AEAF-883BA148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314" y="1315453"/>
            <a:ext cx="9976485" cy="486151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BBD64272-65CF-4090-AB06-564D0371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15" y="177800"/>
            <a:ext cx="10205085" cy="702310"/>
          </a:xfrm>
        </p:spPr>
        <p:txBody>
          <a:bodyPr/>
          <a:lstStyle/>
          <a:p>
            <a:pPr algn="ctr"/>
            <a:r>
              <a:rPr lang="en-US" altLang="en-IN" sz="2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9326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1E1E1E"/>
                </a:solidFill>
                <a:latin typeface="Times New Roman"/>
              </a:rPr>
              <a:t>[1] KVIC – </a:t>
            </a:r>
            <a:r>
              <a:rPr sz="1400">
                <a:solidFill>
                  <a:srgbClr val="1E1E1E"/>
                </a:solidFill>
                <a:latin typeface="Times New Roman"/>
              </a:rPr>
              <a:t>Honey Mission and beekeeping support schemes, Ministry of MSME, Govt. of India.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1E1E1E"/>
                </a:solidFill>
                <a:latin typeface="Times New Roman"/>
              </a:rPr>
              <a:t>[2] FSSAI – </a:t>
            </a:r>
            <a:r>
              <a:rPr sz="1400">
                <a:solidFill>
                  <a:srgbClr val="1E1E1E"/>
                </a:solidFill>
                <a:latin typeface="Times New Roman"/>
              </a:rPr>
              <a:t>Honey quality, NMR testing protocols and food-safety standards.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1E1E1E"/>
                </a:solidFill>
                <a:latin typeface="Times New Roman"/>
              </a:rPr>
              <a:t>[3] Satoshi Nakamoto – </a:t>
            </a:r>
            <a:r>
              <a:rPr sz="1400">
                <a:solidFill>
                  <a:srgbClr val="1E1E1E"/>
                </a:solidFill>
                <a:latin typeface="Times New Roman"/>
              </a:rPr>
              <a:t>Bitcoin: A Peer-to-Peer Electronic Cash System.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1E1E1E"/>
                </a:solidFill>
                <a:latin typeface="Times New Roman"/>
              </a:rPr>
              <a:t>[4] Ethereum / Vitalik Buterin – </a:t>
            </a:r>
            <a:r>
              <a:rPr sz="1400">
                <a:solidFill>
                  <a:srgbClr val="1E1E1E"/>
                </a:solidFill>
                <a:latin typeface="Times New Roman"/>
              </a:rPr>
              <a:t>Ethereum blockchain concepts and smart contract architecture.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1E1E1E"/>
                </a:solidFill>
                <a:latin typeface="Times New Roman"/>
              </a:rPr>
              <a:t>[5] FAO – </a:t>
            </a:r>
            <a:r>
              <a:rPr sz="1400">
                <a:solidFill>
                  <a:srgbClr val="1E1E1E"/>
                </a:solidFill>
                <a:latin typeface="Times New Roman"/>
              </a:rPr>
              <a:t>Beekeeping and sustainable agriculture resources, Food and Agriculture Organization.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1E1E1E"/>
                </a:solidFill>
                <a:latin typeface="Times New Roman"/>
              </a:rPr>
              <a:t>[6] IEEE Research Papers – </a:t>
            </a:r>
            <a:r>
              <a:rPr sz="1400">
                <a:solidFill>
                  <a:srgbClr val="1E1E1E"/>
                </a:solidFill>
                <a:latin typeface="Times New Roman"/>
              </a:rPr>
              <a:t>Blockchain-based food traceability and supply chain verification.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1E1E1E"/>
                </a:solidFill>
                <a:latin typeface="Times New Roman"/>
              </a:rPr>
              <a:t>[7] Research Literature – </a:t>
            </a:r>
            <a:r>
              <a:rPr sz="1400">
                <a:solidFill>
                  <a:srgbClr val="1E1E1E"/>
                </a:solidFill>
                <a:latin typeface="Times New Roman"/>
              </a:rPr>
              <a:t>IoT-based hive monitoring and AI-based bee health analysis.</a:t>
            </a:r>
          </a:p>
        </p:txBody>
      </p:sp>
    </p:spTree>
    <p:extLst>
      <p:ext uri="{BB962C8B-B14F-4D97-AF65-F5344CB8AC3E}">
        <p14:creationId xmlns:p14="http://schemas.microsoft.com/office/powerpoint/2010/main" val="1205201404"/>
      </p:ext>
    </p:extLst>
  </p:cSld>
  <p:clrMapOvr>
    <a:masterClrMapping/>
  </p:clrMapOvr>
</p:sld>
</file>

<file path=ppt/theme/theme1.xml><?xml version="1.0" encoding="utf-8"?>
<a:theme xmlns:a="http://schemas.openxmlformats.org/drawingml/2006/main" name="New Template mini projec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Template mini project</Template>
  <TotalTime>110</TotalTime>
  <Words>56</Words>
  <Application>Microsoft Office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New Template mini project</vt:lpstr>
      <vt:lpstr>PowerPoint Presentation</vt:lpstr>
      <vt:lpstr>OBJECTIVE</vt:lpstr>
      <vt:lpstr>PROBLEM STATEMENT</vt:lpstr>
      <vt:lpstr>PROPOSED METHODOLOGY</vt:lpstr>
      <vt:lpstr>BLOCK DIAGRAM / FLOW CHART</vt:lpstr>
      <vt:lpstr>LIST OF MODULES</vt:lpstr>
      <vt:lpstr>HARDWARE / SOFTWARE REQUIREMENTS</vt:lpstr>
      <vt:lpstr>MODULES DESCRIPTION</vt:lpstr>
      <vt:lpstr>EXPECTED OUTCOME &amp; ADVANTAGES</vt:lpstr>
      <vt:lpstr>SDG GOALS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nithy</dc:creator>
  <cp:lastModifiedBy>ADMIN</cp:lastModifiedBy>
  <cp:revision>5</cp:revision>
  <dcterms:created xsi:type="dcterms:W3CDTF">2026-09-04T05:31:33Z</dcterms:created>
  <dcterms:modified xsi:type="dcterms:W3CDTF">2026-09-05T14:01:41Z</dcterms:modified>
</cp:coreProperties>
</file>